
<file path=[Content_Types].xml><?xml version="1.0" encoding="utf-8"?>
<Types xmlns="http://schemas.openxmlformats.org/package/2006/content-types">
  <Default Extension="jfif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3146" autoAdjust="0"/>
  </p:normalViewPr>
  <p:slideViewPr>
    <p:cSldViewPr snapToGrid="0">
      <p:cViewPr>
        <p:scale>
          <a:sx n="91" d="100"/>
          <a:sy n="91" d="100"/>
        </p:scale>
        <p:origin x="-197" y="221"/>
      </p:cViewPr>
      <p:guideLst>
        <p:guide orient="horz" pos="1968"/>
        <p:guide orient="horz" pos="3912"/>
        <p:guide orient="horz" pos="1656"/>
        <p:guide pos="408"/>
        <p:guide pos="7272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9/7/2026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xmlns="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xmlns="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xmlns="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xmlns="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xmlns="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xmlns="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xmlns="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xmlns="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xmlns="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xmlns="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xmlns="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xmlns="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xmlns="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xmlns="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xmlns="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xmlns="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xmlns="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xmlns="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xmlns="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xmlns="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xmlns="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xmlns="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xmlns="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xmlns="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xmlns="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xmlns="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xmlns="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xmlns="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xmlns="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xmlns="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xmlns="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9/7/2026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xmlns="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xmlns="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VOIS_Major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0175" y="3583914"/>
            <a:ext cx="5545123" cy="861497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b="0" dirty="0" smtClean="0">
                <a:solidFill>
                  <a:schemeClr val="tx1"/>
                </a:solidFill>
              </a:rPr>
              <a:t>Student Name </a:t>
            </a:r>
            <a:r>
              <a:rPr lang="en-US" b="0" dirty="0">
                <a:solidFill>
                  <a:schemeClr val="tx1"/>
                </a:solidFill>
              </a:rPr>
              <a:t>- </a:t>
            </a:r>
            <a:r>
              <a:rPr lang="en-US" b="0" dirty="0" smtClean="0">
                <a:solidFill>
                  <a:schemeClr val="tx1"/>
                </a:solidFill>
              </a:rPr>
              <a:t>IPSITA CHOWDHURY  </a:t>
            </a:r>
            <a:endParaRPr lang="en-IN" b="0" dirty="0">
              <a:solidFill>
                <a:schemeClr val="tx1"/>
              </a:solidFill>
            </a:endParaRPr>
          </a:p>
          <a:p>
            <a:pPr algn="r"/>
            <a:r>
              <a:rPr lang="en-US" b="0" dirty="0" smtClean="0">
                <a:solidFill>
                  <a:schemeClr val="tx1"/>
                </a:solidFill>
              </a:rPr>
              <a:t>College </a:t>
            </a:r>
            <a:r>
              <a:rPr lang="en-US" b="0" dirty="0">
                <a:solidFill>
                  <a:schemeClr val="tx1"/>
                </a:solidFill>
              </a:rPr>
              <a:t>Name- </a:t>
            </a:r>
            <a:r>
              <a:rPr lang="en-US" b="0" dirty="0" err="1" smtClean="0">
                <a:solidFill>
                  <a:schemeClr val="tx1"/>
                </a:solidFill>
              </a:rPr>
              <a:t>Narula</a:t>
            </a:r>
            <a:r>
              <a:rPr lang="en-US" b="0" dirty="0" smtClean="0">
                <a:solidFill>
                  <a:schemeClr val="tx1"/>
                </a:solidFill>
              </a:rPr>
              <a:t> Institute Of Technology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197" y="2625754"/>
            <a:ext cx="7366678" cy="970833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</a:t>
            </a:r>
            <a:r>
              <a:rPr lang="en-GB" sz="3200" dirty="0" smtClean="0"/>
              <a:t>–Seasonal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xmlns="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17F04107-8754-E47D-3375-529E689711FA}"/>
              </a:ext>
            </a:extLst>
          </p:cNvPr>
          <p:cNvSpPr txBox="1"/>
          <p:nvPr/>
        </p:nvSpPr>
        <p:spPr>
          <a:xfrm>
            <a:off x="957405" y="4576469"/>
            <a:ext cx="6047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AICTE STU </a:t>
            </a:r>
            <a:r>
              <a:rPr lang="en-US" b="1" dirty="0"/>
              <a:t>ID : STU691200e003b0d1762787552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6480" y="1875556"/>
            <a:ext cx="6431280" cy="3607987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 smtClean="0"/>
              <a:t>Agricultural </a:t>
            </a:r>
            <a:r>
              <a:rPr lang="en-US" sz="1800" dirty="0"/>
              <a:t>activities are influenced by </a:t>
            </a:r>
            <a:r>
              <a:rPr lang="en-US" sz="1800" dirty="0" smtClean="0"/>
              <a:t>seasonal variations </a:t>
            </a:r>
            <a:r>
              <a:rPr lang="en-US" sz="1800" dirty="0"/>
              <a:t>in environmental conditions, </a:t>
            </a:r>
            <a:r>
              <a:rPr lang="en-US" sz="1800" dirty="0" smtClean="0"/>
              <a:t>farming practices</a:t>
            </a:r>
            <a:r>
              <a:rPr lang="en-US" sz="1800" dirty="0"/>
              <a:t>, resource availability and </a:t>
            </a:r>
            <a:r>
              <a:rPr lang="en-US" sz="1800" dirty="0" smtClean="0"/>
              <a:t>market conditions</a:t>
            </a:r>
            <a:r>
              <a:rPr lang="en-US" sz="1800" dirty="0"/>
              <a:t>. As a result, agricultural </a:t>
            </a:r>
            <a:r>
              <a:rPr lang="en-US" sz="1800" dirty="0" smtClean="0"/>
              <a:t>performance may </a:t>
            </a:r>
            <a:r>
              <a:rPr lang="en-US" sz="1800" dirty="0"/>
              <a:t>differ from one season to another. </a:t>
            </a:r>
            <a:r>
              <a:rPr lang="en-US" sz="1800" dirty="0" smtClean="0"/>
              <a:t>However, raw </a:t>
            </a:r>
            <a:r>
              <a:rPr lang="en-US" sz="1800" dirty="0"/>
              <a:t>agricultural data does not clearly explain </a:t>
            </a:r>
            <a:r>
              <a:rPr lang="en-US" sz="1800" dirty="0" smtClean="0"/>
              <a:t>how agricultural </a:t>
            </a:r>
            <a:r>
              <a:rPr lang="en-US" sz="1800" dirty="0"/>
              <a:t>performance changes across seasons </a:t>
            </a:r>
            <a:r>
              <a:rPr lang="en-US" sz="1800" dirty="0" smtClean="0"/>
              <a:t>or what </a:t>
            </a:r>
            <a:r>
              <a:rPr lang="en-US" sz="1800" dirty="0"/>
              <a:t>patterns can be observed in different </a:t>
            </a:r>
            <a:r>
              <a:rPr lang="en-US" sz="1800" dirty="0" smtClean="0"/>
              <a:t>seasonal conditions</a:t>
            </a:r>
            <a:r>
              <a:rPr lang="en-US" sz="1800" dirty="0"/>
              <a:t>. The problem is to analyze the </a:t>
            </a:r>
            <a:r>
              <a:rPr lang="en-US" sz="1800" dirty="0" smtClean="0"/>
              <a:t>given agricultural </a:t>
            </a:r>
            <a:r>
              <a:rPr lang="en-US" sz="1800" dirty="0"/>
              <a:t>dataset and investigate </a:t>
            </a:r>
            <a:r>
              <a:rPr lang="en-US" sz="1800" dirty="0" smtClean="0"/>
              <a:t>seasonal differences </a:t>
            </a:r>
            <a:r>
              <a:rPr lang="en-US" sz="1800" dirty="0"/>
              <a:t>in agricultural performance </a:t>
            </a:r>
            <a:r>
              <a:rPr lang="en-US" sz="1800" dirty="0" smtClean="0"/>
              <a:t>by identifying </a:t>
            </a:r>
            <a:r>
              <a:rPr lang="en-US" sz="1800" dirty="0"/>
              <a:t>meaningful patterns, </a:t>
            </a:r>
            <a:r>
              <a:rPr lang="en-US" sz="1800" dirty="0" smtClean="0"/>
              <a:t>trends, relationships </a:t>
            </a:r>
            <a:r>
              <a:rPr lang="en-US" sz="1800" dirty="0"/>
              <a:t>and variations within the </a:t>
            </a:r>
            <a:r>
              <a:rPr lang="en-US" sz="1800" dirty="0" smtClean="0"/>
              <a:t>available data</a:t>
            </a:r>
            <a:r>
              <a:rPr lang="en-US" sz="1800" dirty="0"/>
              <a:t>.</a:t>
            </a:r>
            <a:endParaRPr lang="en-IN" sz="18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78840" y="2607158"/>
            <a:ext cx="998289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fontAlgn="base">
              <a:spcBef>
                <a:spcPct val="0"/>
              </a:spcBef>
              <a:spcAft>
                <a:spcPct val="0"/>
              </a:spcAft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Seasonal Agriculture Performance Analysis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cs typeface="Arial" charset="0"/>
              </a:rPr>
              <a:t> is a Python-based data analytics project that examines agricultural </a:t>
            </a:r>
            <a:r>
              <a:rPr lang="en-US" dirty="0"/>
              <a:t>performance across different seasons, crops, irrigation methods and regions. The project analyzes yield, production, revenue, cost, profit, water efficiency and environmental factors to identify important patterns and provide evidence-based recommendations for better agricultural planning.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sz="3600" b="1" dirty="0"/>
              <a:t>End Users / Target </a:t>
            </a:r>
            <a:r>
              <a:rPr lang="en-US" sz="3600" b="1" dirty="0" smtClean="0"/>
              <a:t>Users :</a:t>
            </a:r>
            <a:endParaRPr lang="en-US" sz="3600" b="1" dirty="0"/>
          </a:p>
          <a:p>
            <a:r>
              <a:rPr lang="en-US" sz="3600" b="1" dirty="0"/>
              <a:t>1. Farmers 👨‍🌾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Can use the findings to understand seasonal yield, profitability, irrigation and resource-use patterns.</a:t>
            </a:r>
          </a:p>
          <a:p>
            <a:r>
              <a:rPr lang="en-US" sz="3600" b="1" dirty="0"/>
              <a:t>2. Agricultural Planners 🌱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Can use seasonal and regional comparisons for better agricultural planning.</a:t>
            </a:r>
          </a:p>
          <a:p>
            <a:r>
              <a:rPr lang="en-US" sz="3600" b="1" dirty="0"/>
              <a:t>3. Government &amp; Agricultural Departments 🏛️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Can use data-driven insights for resource allocation and agricultural policies.</a:t>
            </a:r>
          </a:p>
          <a:p>
            <a:r>
              <a:rPr lang="en-US" sz="3600" b="1" dirty="0"/>
              <a:t>4. Agribusiness &amp; Farm Managers 📊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Can evaluate crop profitability, irrigation performance and resource utilization.</a:t>
            </a:r>
          </a:p>
          <a:p>
            <a:r>
              <a:rPr lang="en-US" sz="3600" b="1" dirty="0"/>
              <a:t>5. Agricultural Researchers 🔬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sz="3600" dirty="0"/>
              <a:t>Can use the analysis to identify patterns and areas for further research.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xmlns="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4924771"/>
              </p:ext>
            </p:extLst>
          </p:nvPr>
        </p:nvGraphicFramePr>
        <p:xfrm>
          <a:off x="1535186" y="1593908"/>
          <a:ext cx="8405768" cy="4170096"/>
        </p:xfrm>
        <a:graphic>
          <a:graphicData uri="http://schemas.openxmlformats.org/drawingml/2006/table">
            <a:tbl>
              <a:tblPr/>
              <a:tblGrid>
                <a:gridCol w="4202884"/>
                <a:gridCol w="4202884"/>
              </a:tblGrid>
              <a:tr h="463344">
                <a:tc>
                  <a:txBody>
                    <a:bodyPr/>
                    <a:lstStyle/>
                    <a:p>
                      <a:r>
                        <a:rPr lang="en-US" dirty="0"/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3344">
                <a:tc>
                  <a:txBody>
                    <a:bodyPr/>
                    <a:lstStyle/>
                    <a:p>
                      <a:r>
                        <a:rPr lang="en-US" b="1"/>
                        <a:t>Python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Data analysis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3344">
                <a:tc>
                  <a:txBody>
                    <a:bodyPr/>
                    <a:lstStyle/>
                    <a:p>
                      <a:r>
                        <a:rPr lang="en-US" b="1"/>
                        <a:t>Pandas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Data cleaning and manipulation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3344">
                <a:tc>
                  <a:txBody>
                    <a:bodyPr/>
                    <a:lstStyle/>
                    <a:p>
                      <a:r>
                        <a:rPr lang="en-US" b="1"/>
                        <a:t>NumPy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Numerical computation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3344">
                <a:tc>
                  <a:txBody>
                    <a:bodyPr/>
                    <a:lstStyle/>
                    <a:p>
                      <a:r>
                        <a:rPr lang="en-US" b="1" dirty="0" err="1"/>
                        <a:t>Matplotlib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Data visualization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3344">
                <a:tc>
                  <a:txBody>
                    <a:bodyPr/>
                    <a:lstStyle/>
                    <a:p>
                      <a:r>
                        <a:rPr lang="en-US" b="1"/>
                        <a:t>Seaborn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Statistical visualization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3344">
                <a:tc>
                  <a:txBody>
                    <a:bodyPr/>
                    <a:lstStyle/>
                    <a:p>
                      <a:r>
                        <a:rPr lang="en-US" b="1"/>
                        <a:t>SciPy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Statistical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3344">
                <a:tc>
                  <a:txBody>
                    <a:bodyPr/>
                    <a:lstStyle/>
                    <a:p>
                      <a:r>
                        <a:rPr lang="en-US" b="1"/>
                        <a:t>Google Colab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Development environment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63344">
                <a:tc>
                  <a:txBody>
                    <a:bodyPr/>
                    <a:lstStyle/>
                    <a:p>
                      <a:r>
                        <a:rPr lang="en-US" b="1"/>
                        <a:t>Jupyter Notebook (.ipynb)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 implementation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Rectangle 1"/>
          <p:cNvSpPr>
            <a:spLocks noGrp="1" noChangeArrowheads="1"/>
          </p:cNvSpPr>
          <p:nvPr>
            <p:ph type="body" sz="quarter" idx="12"/>
          </p:nvPr>
        </p:nvSpPr>
        <p:spPr bwMode="auto">
          <a:xfrm>
            <a:off x="390525" y="3799766"/>
            <a:ext cx="184731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9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chemeClr val="tx1"/>
                </a:solidFill>
              </a:rPr>
              <a:t>RESULTS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Rectangle 1"/>
          <p:cNvSpPr/>
          <p:nvPr/>
        </p:nvSpPr>
        <p:spPr>
          <a:xfrm>
            <a:off x="675957" y="889844"/>
            <a:ext cx="9751559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 smtClean="0"/>
          </a:p>
          <a:p>
            <a:endParaRPr lang="en-US" b="1" dirty="0"/>
          </a:p>
          <a:p>
            <a:endParaRPr lang="en-US" b="1" dirty="0" smtClean="0"/>
          </a:p>
          <a:p>
            <a:r>
              <a:rPr lang="en-US" b="1" dirty="0" smtClean="0"/>
              <a:t>Key Insights : </a:t>
            </a:r>
            <a:endParaRPr lang="en-US" b="1" dirty="0"/>
          </a:p>
          <a:p>
            <a:r>
              <a:rPr lang="en-US" dirty="0" smtClean="0"/>
              <a:t>1. Agricultural </a:t>
            </a:r>
            <a:r>
              <a:rPr lang="en-US" dirty="0"/>
              <a:t>performance varies across seasons. </a:t>
            </a:r>
          </a:p>
          <a:p>
            <a:r>
              <a:rPr lang="en-US" dirty="0" smtClean="0"/>
              <a:t>2. Seasonal </a:t>
            </a:r>
            <a:r>
              <a:rPr lang="en-US" dirty="0"/>
              <a:t>differences exist in yield, profitability and resource utilization. </a:t>
            </a:r>
          </a:p>
          <a:p>
            <a:r>
              <a:rPr lang="en-US" dirty="0" smtClean="0"/>
              <a:t>3. Crop </a:t>
            </a:r>
            <a:r>
              <a:rPr lang="en-US" dirty="0"/>
              <a:t>performance changes across seasons. </a:t>
            </a:r>
          </a:p>
          <a:p>
            <a:r>
              <a:rPr lang="en-US" dirty="0" smtClean="0"/>
              <a:t>4. Irrigation </a:t>
            </a:r>
            <a:r>
              <a:rPr lang="en-US" dirty="0"/>
              <a:t>methods show different yield, profit and water-efficiency patterns. </a:t>
            </a:r>
          </a:p>
          <a:p>
            <a:r>
              <a:rPr lang="en-US" dirty="0" smtClean="0"/>
              <a:t>5. Some </a:t>
            </a:r>
            <a:r>
              <a:rPr lang="en-US" dirty="0"/>
              <a:t>crops demonstrate greater resilience across seasons. </a:t>
            </a:r>
          </a:p>
          <a:p>
            <a:r>
              <a:rPr lang="en-US" dirty="0" smtClean="0"/>
              <a:t>6. Profitability </a:t>
            </a:r>
            <a:r>
              <a:rPr lang="en-US" dirty="0"/>
              <a:t>can vary considerably between states and seasons. </a:t>
            </a:r>
          </a:p>
          <a:p>
            <a:r>
              <a:rPr lang="en-US" dirty="0" smtClean="0"/>
              <a:t>7. Water </a:t>
            </a:r>
            <a:r>
              <a:rPr lang="en-US" dirty="0"/>
              <a:t>efficiency has an observable relationship with agricultural yield. </a:t>
            </a:r>
          </a:p>
          <a:p>
            <a:r>
              <a:rPr lang="en-US" dirty="0" smtClean="0"/>
              <a:t>8. Environmental </a:t>
            </a:r>
            <a:r>
              <a:rPr lang="en-US" dirty="0"/>
              <a:t>and agricultural variables show different levels of correlation. </a:t>
            </a:r>
          </a:p>
          <a:p>
            <a:r>
              <a:rPr lang="en-US" dirty="0" smtClean="0"/>
              <a:t>9. Disease/pest </a:t>
            </a:r>
            <a:r>
              <a:rPr lang="en-US" dirty="0"/>
              <a:t>risk varies across agricultural conditions. </a:t>
            </a:r>
          </a:p>
          <a:p>
            <a:r>
              <a:rPr lang="en-US" dirty="0" smtClean="0"/>
              <a:t>10. Statistical </a:t>
            </a:r>
            <a:r>
              <a:rPr lang="en-US" dirty="0"/>
              <a:t>analysis helps distinguish visible differences from statistically significant differences. </a:t>
            </a:r>
          </a:p>
        </p:txBody>
      </p:sp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4098" name="Picture 2" descr="C:\Users\HP\OneDrive\Pictures\Screenshots\Screenshot 2026-09-07 231354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430" y="1292149"/>
            <a:ext cx="4543517" cy="2531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 descr="C:\Users\HP\OneDrive\Pictures\Screenshots\Screenshot 2026-09-07 231434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506" y="1249960"/>
            <a:ext cx="6253294" cy="2608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:\Users\HP\OneDrive\Pictures\Screenshots\Screenshot 2026-09-07 231452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239" y="4244830"/>
            <a:ext cx="8826878" cy="2009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5122" name="Picture 2" descr="C:\Users\HP\OneDrive\Pictures\Screenshots\Screenshot 2026-09-07 23153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84" y="1359017"/>
            <a:ext cx="5396689" cy="2130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3" name="Picture 3" descr="C:\Users\HP\OneDrive\Pictures\Screenshots\Screenshot 2026-09-07 231638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924" y="1347336"/>
            <a:ext cx="5770752" cy="454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C:\Users\HP\OneDrive\Pictures\Screenshots\Screenshot 2026-09-07 231726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119" y="3649209"/>
            <a:ext cx="4983061" cy="2558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6146" name="Picture 2" descr="C:\Users\HP\OneDrive\Pictures\Screenshots\Screenshot 2026-09-07 231806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325" y="1139825"/>
            <a:ext cx="5162521" cy="2526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7" name="Picture 3" descr="C:\Users\HP\OneDrive\Pictures\Screenshots\Screenshot 2026-09-07 231827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2876" y="4018326"/>
            <a:ext cx="4712412" cy="26466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C:\Users\HP\OneDrive\Pictures\Screenshots\Screenshot 2026-09-07 231902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7794" y="1165224"/>
            <a:ext cx="6139430" cy="5235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7170" name="Picture 2" descr="C:\Users\HP\OneDrive\Pictures\Screenshots\Screenshot 2026-09-07 23271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228" y="1132760"/>
            <a:ext cx="4454553" cy="2495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1" name="Picture 3" descr="C:\Users\HP\OneDrive\Pictures\Screenshots\Screenshot 2026-09-07 232727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8738" y="979492"/>
            <a:ext cx="4970550" cy="25606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C:\Users\HP\OneDrive\Pictures\Screenshots\Screenshot 2026-09-07 232747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7475" y="3657600"/>
            <a:ext cx="5189536" cy="2915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3" name="Picture 5" descr="C:\Users\HP\OneDrive\Pictures\Screenshots\Screenshot 2026-09-07 233107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782" y="3909270"/>
            <a:ext cx="5134061" cy="2755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Rectangle 1"/>
          <p:cNvSpPr/>
          <p:nvPr/>
        </p:nvSpPr>
        <p:spPr>
          <a:xfrm>
            <a:off x="805343" y="1275371"/>
            <a:ext cx="8162488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Predictive Modeling:</a:t>
            </a:r>
            <a:r>
              <a:rPr lang="en-US" dirty="0"/>
              <a:t> Develop Machine Learning models to predict crop yield and agricultural profit using environmental, soil and farm-related factors. </a:t>
            </a:r>
          </a:p>
          <a:p>
            <a:r>
              <a:rPr lang="en-US" b="1" dirty="0"/>
              <a:t>Real-Time Data Integration:</a:t>
            </a:r>
            <a:r>
              <a:rPr lang="en-US" dirty="0"/>
              <a:t> Integrate real-time weather, rainfall, soil-moisture and market-price data for continuous monitoring. </a:t>
            </a:r>
          </a:p>
          <a:p>
            <a:r>
              <a:rPr lang="en-US" b="1" dirty="0"/>
              <a:t>Crop Recommendation System:</a:t>
            </a:r>
            <a:r>
              <a:rPr lang="en-US" dirty="0"/>
              <a:t> Build a recommendation system to suggest suitable crops based on season, soil conditions, weather and expected profitability. </a:t>
            </a:r>
          </a:p>
          <a:p>
            <a:r>
              <a:rPr lang="en-US" b="1" dirty="0"/>
              <a:t>Advanced Irrigation Optimization:</a:t>
            </a:r>
            <a:r>
              <a:rPr lang="en-US" dirty="0"/>
              <a:t> Develop a smart irrigation model to recommend efficient water usage for different crops and seasons. </a:t>
            </a:r>
          </a:p>
          <a:p>
            <a:r>
              <a:rPr lang="en-US" b="1" dirty="0"/>
              <a:t>Interactive Dashboard:</a:t>
            </a:r>
            <a:r>
              <a:rPr lang="en-US" dirty="0"/>
              <a:t> Create a Power BI/</a:t>
            </a:r>
            <a:r>
              <a:rPr lang="en-US" dirty="0" err="1"/>
              <a:t>Streamlit</a:t>
            </a:r>
            <a:r>
              <a:rPr lang="en-US" dirty="0"/>
              <a:t> dashboard for farmers, agricultural planners and government departments. </a:t>
            </a:r>
          </a:p>
          <a:p>
            <a:r>
              <a:rPr lang="en-US" b="1" dirty="0"/>
              <a:t>Disease &amp; Pest Prediction:</a:t>
            </a:r>
            <a:r>
              <a:rPr lang="en-US" dirty="0"/>
              <a:t> Extend the analysis to predict disease/pest risk using environmental and historical agricultural data. </a:t>
            </a:r>
          </a:p>
          <a:p>
            <a:r>
              <a:rPr lang="en-US" b="1" dirty="0"/>
              <a:t>Time-Series Analysis:</a:t>
            </a:r>
            <a:r>
              <a:rPr lang="en-US" dirty="0"/>
              <a:t> Use multi-year agricultural data to identify long-term seasonal trends and changes. </a:t>
            </a:r>
          </a:p>
          <a:p>
            <a:r>
              <a:rPr lang="en-US" b="1" dirty="0"/>
              <a:t>Geographical Analysis:</a:t>
            </a:r>
            <a:r>
              <a:rPr lang="en-US" dirty="0"/>
              <a:t> Incorporate GIS/maps to visualize regional agricultural performance and identify high- and low-performing areas. 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5F0B37E4-66B1-8633-7266-68B321742757}"/>
              </a:ext>
            </a:extLst>
          </p:cNvPr>
          <p:cNvSpPr txBox="1"/>
          <p:nvPr/>
        </p:nvSpPr>
        <p:spPr>
          <a:xfrm>
            <a:off x="729256" y="1440320"/>
            <a:ext cx="723287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 action="ppaction://hlinkfile"/>
              </a:rPr>
              <a:t>https://</a:t>
            </a:r>
            <a:r>
              <a:rPr lang="en-US" dirty="0" smtClean="0">
                <a:hlinkClick r:id="rId3" action="ppaction://hlinkfile"/>
              </a:rPr>
              <a:t>github.com/Ipsita20262005/Seasonal-Agriculture-Performance-Analysis.git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026" name="Picture 2" descr="C:\Users\HP\OneDrive\Pictures\Screenshots\Screenshot 2026-09-07 225253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063" y="1622129"/>
            <a:ext cx="9460728" cy="4691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847674" y="2459722"/>
            <a:ext cx="8975834" cy="1692828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lang="en-US" sz="4800" dirty="0" smtClean="0">
                <a:solidFill>
                  <a:schemeClr val="tx1"/>
                </a:solidFill>
              </a:rPr>
              <a:t>                    Thank </a:t>
            </a:r>
            <a:r>
              <a:rPr lang="en-US" sz="4800" dirty="0">
                <a:solidFill>
                  <a:schemeClr val="tx1"/>
                </a:solidFill>
              </a:rPr>
              <a:t>you</a:t>
            </a:r>
            <a:endParaRPr lang="en-IN" sz="4800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xmlns="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xmlns="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xmlns="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xmlns="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xmlns="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xmlns="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1" name="Text Placeholder 11">
            <a:extLst>
              <a:ext uri="{FF2B5EF4-FFF2-40B4-BE49-F238E27FC236}">
                <a16:creationId xmlns:a16="http://schemas.microsoft.com/office/drawing/2014/main" xmlns="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44536" y="2969703"/>
            <a:ext cx="5671993" cy="947956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n-IN" sz="4400" dirty="0" smtClean="0">
                <a:solidFill>
                  <a:schemeClr val="tx1"/>
                </a:solidFill>
              </a:rPr>
              <a:t>THANK YOU</a:t>
            </a:r>
            <a:endParaRPr lang="en-IN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DEA9014-ED64-4558-B1E1-D03F0EE32BEB}">
  <ds:schemaRefs>
    <ds:schemaRef ds:uri="16c05727-aa75-4e4a-9b5f-8a80a1165891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71af3243-3dd4-4a8d-8c0d-dd76da1f02a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1419</TotalTime>
  <Words>524</Words>
  <Application>Microsoft Office PowerPoint</Application>
  <PresentationFormat>Custom</PresentationFormat>
  <Paragraphs>71</Paragraphs>
  <Slides>14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Facet</vt:lpstr>
      <vt:lpstr>Project Title –Seasonal Agriculture Performance Analysis</vt:lpstr>
      <vt:lpstr>PROBLEM  STATEMENT</vt:lpstr>
      <vt:lpstr>Project Description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                    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HP</cp:lastModifiedBy>
  <cp:revision>105</cp:revision>
  <dcterms:created xsi:type="dcterms:W3CDTF">2021-07-11T13:13:15Z</dcterms:created>
  <dcterms:modified xsi:type="dcterms:W3CDTF">2026-09-07T18:04:04Z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